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eebo"/>
      <p:regular r:id="rId201314"/>
    </p:embeddedFont>
    <p:embeddedFont>
      <p:font typeface="Heebo Medium"/>
      <p:regular r:id="rId201315"/>
    </p:embeddedFont>
    <p:embeddedFont>
      <p:font typeface="Heebo SemiBold"/>
      <p:regular r:id="rId201316"/>
    </p:embeddedFont>
    <p:embeddedFont>
      <p:font typeface="Heebo Bold"/>
      <p:regular r:id="rId201317"/>
    </p:embeddedFont>
    <p:embeddedFont>
      <p:font typeface="Montserrat"/>
      <p:regular r:id="rId201318"/>
    </p:embeddedFont>
    <p:embeddedFont>
      <p:font typeface="Montserrat SemiBold"/>
      <p:regular r:id="rId201319"/>
    </p:embeddedFont>
    <p:embeddedFont>
      <p:font typeface="Montserrat 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199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200" spc="-287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AI</a:t>
            </a:r>
            <a:endParaRPr lang="en-US" sz="82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8200" spc="-287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WasteWise</a:t>
            </a:r>
            <a:endParaRPr lang="en-US" sz="8200" dirty="0"/>
          </a:p>
        </p:txBody>
      </p:sp>
      <p:sp>
        <p:nvSpPr>
          <p:cNvPr id="3" name="Text 1"/>
          <p:cNvSpPr/>
          <p:nvPr/>
        </p:nvSpPr>
        <p:spPr>
          <a:xfrm>
            <a:off x="609585" y="2821781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responsible-AI assistant for better decisions at the moment of disposal.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9585" y="5305623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AI FOR SUSTAINABILITY VIRTUAL INTERNSHIP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585" y="5678984"/>
            <a:ext cx="10972526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 collaboration with IBM SkillsBuild and AICTE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Presented by Devarapalli Sravani · Lakireddy Bali Reddy College of Engineering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Computer Science and Engineering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Waste is easy to mis-sort at the moment of disposal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280021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decision is small. The uncertainty is real.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09585" y="1772741"/>
            <a:ext cx="558092" cy="558105"/>
          </a:xfrm>
          <a:prstGeom prst="ellipse">
            <a:avLst/>
          </a:prstGeom>
          <a:noFill/>
          <a:ln w="25399">
            <a:solidFill>
              <a:srgbClr val="35199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05" y="1960066"/>
            <a:ext cx="183451" cy="183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2483247"/>
            <a:ext cx="3756526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Packaging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09585" y="3050084"/>
            <a:ext cx="37565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Plastic packaging can look recyclable—but local streams may differ.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70903" y="1772741"/>
            <a:ext cx="558092" cy="558105"/>
          </a:xfrm>
          <a:prstGeom prst="ellipse">
            <a:avLst/>
          </a:prstGeom>
          <a:noFill/>
          <a:ln w="25399">
            <a:solidFill>
              <a:srgbClr val="35199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224" y="1960066"/>
            <a:ext cx="183451" cy="18345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70903" y="2483247"/>
            <a:ext cx="3756526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waste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670903" y="3050084"/>
            <a:ext cx="37565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Organic material needs a different path from dry recyclables.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09585" y="4189909"/>
            <a:ext cx="377816" cy="377825"/>
          </a:xfrm>
          <a:prstGeom prst="ellipse">
            <a:avLst/>
          </a:prstGeom>
          <a:noFill/>
          <a:ln w="25399">
            <a:solidFill>
              <a:srgbClr val="35199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09585" y="4720134"/>
            <a:ext cx="7817845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Special items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09585" y="5286970"/>
            <a:ext cx="842743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Batteries and e-waste need extra care and should not enter ordinary bins.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8884618" y="2344341"/>
            <a:ext cx="330707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DESIGN QUESTION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884618" y="2612926"/>
            <a:ext cx="2697492" cy="207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might AI identify common waste and guide correct segregation?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8884618" y="4837509"/>
            <a:ext cx="2697492" cy="146050"/>
          </a:xfrm>
          <a:custGeom>
            <a:avLst/>
            <a:gdLst/>
            <a:ahLst/>
            <a:cxnLst/>
            <a:rect l="l" t="t" r="r" b="b"/>
            <a:pathLst>
              <a:path w="2697492" h="146050">
                <a:moveTo>
                  <a:pt x="0" y="55499"/>
                </a:moveTo>
                <a:lnTo>
                  <a:pt x="2211943" y="11684"/>
                </a:lnTo>
                <a:lnTo>
                  <a:pt x="2697492" y="73025"/>
                </a:lnTo>
                <a:lnTo>
                  <a:pt x="2211943" y="134366"/>
                </a:lnTo>
                <a:lnTo>
                  <a:pt x="0" y="90551"/>
                </a:lnTo>
                <a:close/>
              </a:path>
            </a:pathLst>
          </a:custGeom>
          <a:solidFill>
            <a:srgbClr val="581CA0">
              <a:alpha val="92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884618" y="4891484"/>
            <a:ext cx="1807224" cy="38100"/>
          </a:xfrm>
          <a:prstGeom prst="roundRect">
            <a:avLst>
              <a:gd name="adj" fmla="val 49999"/>
            </a:avLst>
          </a:prstGeom>
          <a:solidFill>
            <a:srgbClr val="7852FF"/>
          </a:solidFill>
          <a:ln/>
        </p:spPr>
      </p:sp>
      <p:sp>
        <p:nvSpPr>
          <p:cNvPr id="19" name="Text 15"/>
          <p:cNvSpPr/>
          <p:nvPr/>
        </p:nvSpPr>
        <p:spPr>
          <a:xfrm>
            <a:off x="8884618" y="5107384"/>
            <a:ext cx="2697492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SDG 12 connection · responsible consumption, production, disposal, and recycling awareness.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636975" y="1772741"/>
            <a:ext cx="38099" cy="4475659"/>
          </a:xfrm>
          <a:prstGeom prst="rect">
            <a:avLst/>
          </a:prstGeom>
          <a:solidFill>
            <a:srgbClr val="7852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Accessible guidance matters wherever people throw something away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737717"/>
            <a:ext cx="532692" cy="532705"/>
          </a:xfrm>
          <a:prstGeom prst="ellipse">
            <a:avLst/>
          </a:prstGeom>
          <a:solidFill>
            <a:srgbClr val="1C0080"/>
          </a:solidFill>
          <a:ln w="12700">
            <a:solidFill>
              <a:srgbClr val="35199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205" y="1912342"/>
            <a:ext cx="183451" cy="1834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448223"/>
            <a:ext cx="2628834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585" y="3015059"/>
            <a:ext cx="262883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Quick answers in classrooms, hostels, and campus spaces.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390815" y="1737717"/>
            <a:ext cx="532692" cy="532705"/>
          </a:xfrm>
          <a:prstGeom prst="ellipse">
            <a:avLst/>
          </a:prstGeom>
          <a:solidFill>
            <a:srgbClr val="1C0080"/>
          </a:solidFill>
          <a:ln w="12700">
            <a:solidFill>
              <a:srgbClr val="35199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436" y="1912342"/>
            <a:ext cx="183451" cy="1834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90815" y="2448223"/>
            <a:ext cx="2628834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Households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3390815" y="3015059"/>
            <a:ext cx="262883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Simple help for everyday packaging and food waste.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172046" y="1737717"/>
            <a:ext cx="532692" cy="532705"/>
          </a:xfrm>
          <a:prstGeom prst="ellipse">
            <a:avLst/>
          </a:prstGeom>
          <a:solidFill>
            <a:srgbClr val="1C0080"/>
          </a:solidFill>
          <a:ln w="12700">
            <a:solidFill>
              <a:srgbClr val="35199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666" y="1912342"/>
            <a:ext cx="183451" cy="18345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72046" y="2448223"/>
            <a:ext cx="2628834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Office users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6172046" y="3015059"/>
            <a:ext cx="262883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Clearer choices at shared disposal points.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8953276" y="1737717"/>
            <a:ext cx="532692" cy="532705"/>
          </a:xfrm>
          <a:prstGeom prst="ellipse">
            <a:avLst/>
          </a:prstGeom>
          <a:solidFill>
            <a:srgbClr val="1C0080"/>
          </a:solidFill>
          <a:ln w="12700">
            <a:solidFill>
              <a:srgbClr val="35199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7897" y="1912342"/>
            <a:ext cx="183451" cy="18345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53276" y="2448223"/>
            <a:ext cx="2628834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Campus staff and communities</a:t>
            </a:r>
            <a:endParaRPr lang="en-US" sz="2400" dirty="0"/>
          </a:p>
        </p:txBody>
      </p:sp>
      <p:sp>
        <p:nvSpPr>
          <p:cNvPr id="18" name="Text 12"/>
          <p:cNvSpPr/>
          <p:nvPr/>
        </p:nvSpPr>
        <p:spPr>
          <a:xfrm>
            <a:off x="8953276" y="3429496"/>
            <a:ext cx="262883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common language for better waste awareness.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609585" y="5722045"/>
            <a:ext cx="10972526" cy="146050"/>
          </a:xfrm>
          <a:custGeom>
            <a:avLst/>
            <a:gdLst/>
            <a:ahLst/>
            <a:cxnLst/>
            <a:rect l="l" t="t" r="r" b="b"/>
            <a:pathLst>
              <a:path w="10972526" h="146050">
                <a:moveTo>
                  <a:pt x="0" y="55499"/>
                </a:moveTo>
                <a:lnTo>
                  <a:pt x="8997471" y="11684"/>
                </a:lnTo>
                <a:lnTo>
                  <a:pt x="10972526" y="73025"/>
                </a:lnTo>
                <a:lnTo>
                  <a:pt x="8997471" y="134366"/>
                </a:lnTo>
                <a:lnTo>
                  <a:pt x="0" y="90551"/>
                </a:lnTo>
                <a:close/>
              </a:path>
            </a:pathLst>
          </a:custGeom>
          <a:solidFill>
            <a:srgbClr val="581CA0">
              <a:alpha val="92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7961213" y="5776020"/>
            <a:ext cx="3620798" cy="38100"/>
          </a:xfrm>
          <a:prstGeom prst="roundRect">
            <a:avLst>
              <a:gd name="adj" fmla="val 49999"/>
            </a:avLst>
          </a:prstGeom>
          <a:solidFill>
            <a:srgbClr val="7852FF"/>
          </a:solidFill>
          <a:ln/>
        </p:spPr>
      </p:sp>
      <p:sp>
        <p:nvSpPr>
          <p:cNvPr id="21" name="Text 15"/>
          <p:cNvSpPr/>
          <p:nvPr/>
        </p:nvSpPr>
        <p:spPr>
          <a:xfrm>
            <a:off x="609585" y="6058595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Why now: categories are confusing; incorrect segregation creates downstream difficulty; AI can provide decision support at the point of action.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08113"/>
            <a:ext cx="4907137" cy="2961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simple assistant can turn uncertainty into the next right action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09585" y="4582021"/>
            <a:ext cx="4907137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WasteWise identifies the likely waste category, explains the reasoning, and gives a practical disposal recommendation without pretending local rules are universal.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9585" y="5275263"/>
            <a:ext cx="4907137" cy="174625"/>
          </a:xfrm>
          <a:custGeom>
            <a:avLst/>
            <a:gdLst/>
            <a:ahLst/>
            <a:cxnLst/>
            <a:rect l="l" t="t" r="r" b="b"/>
            <a:pathLst>
              <a:path w="4907137" h="174625">
                <a:moveTo>
                  <a:pt x="0" y="66358"/>
                </a:moveTo>
                <a:lnTo>
                  <a:pt x="4023853" y="13970"/>
                </a:lnTo>
                <a:lnTo>
                  <a:pt x="4907137" y="87313"/>
                </a:lnTo>
                <a:lnTo>
                  <a:pt x="4023853" y="160655"/>
                </a:lnTo>
                <a:lnTo>
                  <a:pt x="0" y="108268"/>
                </a:lnTo>
                <a:close/>
              </a:path>
            </a:pathLst>
          </a:custGeom>
          <a:solidFill>
            <a:srgbClr val="581CA0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5327650"/>
            <a:ext cx="3287630" cy="69751"/>
          </a:xfrm>
          <a:prstGeom prst="roundRect">
            <a:avLst>
              <a:gd name="adj" fmla="val 49999"/>
            </a:avLst>
          </a:prstGeom>
          <a:solidFill>
            <a:srgbClr val="7852FF"/>
          </a:solidFill>
          <a:ln/>
        </p:spPr>
      </p:sp>
      <p:sp>
        <p:nvSpPr>
          <p:cNvPr id="6" name="Shape 4"/>
          <p:cNvSpPr/>
          <p:nvPr/>
        </p:nvSpPr>
        <p:spPr>
          <a:xfrm>
            <a:off x="5973811" y="1408113"/>
            <a:ext cx="2727951" cy="1944688"/>
          </a:xfrm>
          <a:prstGeom prst="roundRect">
            <a:avLst>
              <a:gd name="adj" fmla="val 588"/>
            </a:avLst>
          </a:prstGeom>
          <a:solidFill>
            <a:srgbClr val="1C0080"/>
          </a:solidFill>
          <a:ln/>
        </p:spPr>
      </p:sp>
      <p:sp>
        <p:nvSpPr>
          <p:cNvPr id="7" name="Text 5"/>
          <p:cNvSpPr/>
          <p:nvPr/>
        </p:nvSpPr>
        <p:spPr>
          <a:xfrm>
            <a:off x="6126208" y="1560513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7852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208" y="1862138"/>
            <a:ext cx="2423159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126208" y="2359918"/>
            <a:ext cx="242315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Text-based waste identification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854159" y="1408113"/>
            <a:ext cx="2727951" cy="1944688"/>
          </a:xfrm>
          <a:prstGeom prst="roundRect">
            <a:avLst>
              <a:gd name="adj" fmla="val 588"/>
            </a:avLst>
          </a:prstGeom>
          <a:solidFill>
            <a:srgbClr val="1C0080"/>
          </a:solidFill>
          <a:ln/>
        </p:spPr>
      </p:sp>
      <p:sp>
        <p:nvSpPr>
          <p:cNvPr id="11" name="Text 9"/>
          <p:cNvSpPr/>
          <p:nvPr/>
        </p:nvSpPr>
        <p:spPr>
          <a:xfrm>
            <a:off x="9006555" y="1560513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7852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006555" y="1862138"/>
            <a:ext cx="2423159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006555" y="2359918"/>
            <a:ext cx="242315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classification and conversational questions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73811" y="3505200"/>
            <a:ext cx="2727951" cy="1944688"/>
          </a:xfrm>
          <a:prstGeom prst="roundRect">
            <a:avLst>
              <a:gd name="adj" fmla="val 588"/>
            </a:avLst>
          </a:prstGeom>
          <a:solidFill>
            <a:srgbClr val="1C0080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208" y="3657600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7852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26208" y="3959225"/>
            <a:ext cx="2423159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26208" y="4457005"/>
            <a:ext cx="2423159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Disposal recommendations with confidence or uncertainty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854159" y="3505200"/>
            <a:ext cx="2727951" cy="1944688"/>
          </a:xfrm>
          <a:prstGeom prst="roundRect">
            <a:avLst>
              <a:gd name="adj" fmla="val 588"/>
            </a:avLst>
          </a:prstGeom>
          <a:solidFill>
            <a:srgbClr val="1C0080"/>
          </a:solidFill>
          <a:ln/>
        </p:spPr>
      </p:sp>
      <p:sp>
        <p:nvSpPr>
          <p:cNvPr id="19" name="Text 17"/>
          <p:cNvSpPr/>
          <p:nvPr/>
        </p:nvSpPr>
        <p:spPr>
          <a:xfrm>
            <a:off x="9006555" y="3657600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7852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06555" y="3959225"/>
            <a:ext cx="2423159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06555" y="4457005"/>
            <a:ext cx="242315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Local-rules reminder before the final decision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From item description to a locally aware recommendation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737717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workflow keeps the model useful—and keeps the final responsibility visible.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9585" y="2230438"/>
            <a:ext cx="73261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7852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2532063"/>
            <a:ext cx="342891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input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3012579"/>
            <a:ext cx="403849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Text or image describing the item.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495688" y="2230438"/>
            <a:ext cx="73261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7852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95688" y="2532063"/>
            <a:ext cx="320032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analysis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495688" y="3012579"/>
            <a:ext cx="320032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Identify the likely item and material.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53196" y="2230438"/>
            <a:ext cx="73261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7852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53196" y="2532063"/>
            <a:ext cx="342891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53196" y="3012579"/>
            <a:ext cx="342891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Determine the appropriate waste category.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585" y="4074220"/>
            <a:ext cx="73261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7852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585" y="4375845"/>
            <a:ext cx="525766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 and guidance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09585" y="4856361"/>
            <a:ext cx="586725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Retrieve relevant disposal information.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24442" y="4074220"/>
            <a:ext cx="73261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7852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24442" y="4375845"/>
            <a:ext cx="525766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24442" y="4856361"/>
            <a:ext cx="525766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Return category, action, and reason, then prompt local verification when needed.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09585" y="5651302"/>
            <a:ext cx="10972526" cy="841970"/>
          </a:xfrm>
          <a:prstGeom prst="roundRect">
            <a:avLst>
              <a:gd name="adj" fmla="val 1357"/>
            </a:avLst>
          </a:prstGeom>
          <a:solidFill>
            <a:srgbClr val="1C0080"/>
          </a:solidFill>
          <a:ln/>
        </p:spPr>
      </p:sp>
      <p:sp>
        <p:nvSpPr>
          <p:cNvPr id="20" name="Text 18"/>
          <p:cNvSpPr/>
          <p:nvPr/>
        </p:nvSpPr>
        <p:spPr>
          <a:xfrm>
            <a:off x="825479" y="5921177"/>
            <a:ext cx="1115032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Example: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Used plastic water bottle → Recyclable → follow local plastic or recyclable collection rules.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260743" y="2230438"/>
            <a:ext cx="12700" cy="1615182"/>
          </a:xfrm>
          <a:prstGeom prst="rect">
            <a:avLst/>
          </a:prstGeom>
          <a:solidFill>
            <a:srgbClr val="6157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918252" y="2230438"/>
            <a:ext cx="12700" cy="1615182"/>
          </a:xfrm>
          <a:prstGeom prst="rect">
            <a:avLst/>
          </a:prstGeom>
          <a:solidFill>
            <a:srgbClr val="6157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5" y="3839270"/>
            <a:ext cx="5486263" cy="12700"/>
          </a:xfrm>
          <a:prstGeom prst="rect">
            <a:avLst/>
          </a:prstGeom>
          <a:solidFill>
            <a:srgbClr val="6157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089498" y="3845620"/>
            <a:ext cx="12700" cy="1615182"/>
          </a:xfrm>
          <a:prstGeom prst="rect">
            <a:avLst/>
          </a:prstGeom>
          <a:solidFill>
            <a:srgbClr val="6157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5848" y="3839270"/>
            <a:ext cx="5486263" cy="12700"/>
          </a:xfrm>
          <a:prstGeom prst="rect">
            <a:avLst/>
          </a:prstGeom>
          <a:solidFill>
            <a:srgbClr val="6157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908627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08627" y="0"/>
            <a:ext cx="5283068" cy="6858000"/>
          </a:xfrm>
          <a:custGeom>
            <a:avLst/>
            <a:gdLst/>
            <a:ahLst/>
            <a:cxnLst/>
            <a:rect l="l" t="t" r="r" b="b"/>
            <a:pathLst>
              <a:path w="5283068" h="6858000">
                <a:moveTo>
                  <a:pt x="0" y="0"/>
                </a:moveTo>
                <a:lnTo>
                  <a:pt x="5256077" y="0"/>
                </a:lnTo>
                <a:arcTo hR="26991" wR="26991" stAng="16200000" swAng="5400000"/>
                <a:lnTo>
                  <a:pt x="5283068" y="6831009"/>
                </a:lnTo>
                <a:arcTo hR="26991" wR="26991" stAng="0" swAng="5400000"/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D0A2C"/>
          </a:solidFill>
          <a:ln/>
        </p:spPr>
      </p:sp>
      <p:sp>
        <p:nvSpPr>
          <p:cNvPr id="4" name="Text 1"/>
          <p:cNvSpPr/>
          <p:nvPr/>
        </p:nvSpPr>
        <p:spPr>
          <a:xfrm>
            <a:off x="7467413" y="406400"/>
            <a:ext cx="472428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PROTOTYPE INTERACTION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467413" y="674985"/>
            <a:ext cx="4165496" cy="18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prototype answers the everyday question people actually ask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791255" y="2759770"/>
            <a:ext cx="384165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“I have an empty plastic water bottle. Where should I put it?”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67413" y="2683570"/>
            <a:ext cx="28574" cy="756841"/>
          </a:xfrm>
          <a:prstGeom prst="roundRect">
            <a:avLst>
              <a:gd name="adj" fmla="val 50000"/>
            </a:avLst>
          </a:prstGeom>
          <a:solidFill>
            <a:srgbClr val="7852FF"/>
          </a:solidFill>
          <a:ln/>
        </p:spPr>
      </p:sp>
      <p:sp>
        <p:nvSpPr>
          <p:cNvPr id="8" name="Text 5"/>
          <p:cNvSpPr/>
          <p:nvPr/>
        </p:nvSpPr>
        <p:spPr>
          <a:xfrm>
            <a:off x="7467413" y="3630910"/>
            <a:ext cx="4165496" cy="2687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Likely category:</a:t>
            </a:r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Recyclable plastic</a:t>
            </a:r>
            <a:endParaRPr lang="en-US" sz="1700" dirty="0"/>
          </a:p>
          <a:p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Recommended action:</a:t>
            </a:r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Empty the bottle and use the locally designated recyclable or plastic waste stream.</a:t>
            </a:r>
            <a:endParaRPr lang="en-US" sz="1700" dirty="0"/>
          </a:p>
          <a:p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Reason:</a:t>
            </a:r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It is commonly made from recyclable plastic.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Confidence: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Medium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467413" y="6508452"/>
            <a:ext cx="472428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b="1" spc="17" kern="0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Safeguard:</a:t>
            </a:r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local waste-management rules may differ.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89578" y="0"/>
            <a:ext cx="38099" cy="6858000"/>
          </a:xfrm>
          <a:prstGeom prst="rect">
            <a:avLst/>
          </a:prstGeom>
          <a:solidFill>
            <a:srgbClr val="7852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Five design moves keep the solution human-centered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737717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method starts with people’s confusion—not with the technology.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09585" y="2293938"/>
            <a:ext cx="377816" cy="377825"/>
          </a:xfrm>
          <a:prstGeom prst="ellipse">
            <a:avLst/>
          </a:prstGeom>
          <a:solidFill>
            <a:srgbClr val="D84CFF"/>
          </a:solidFill>
          <a:ln w="12700">
            <a:solidFill>
              <a:srgbClr val="351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3919" y="2391073"/>
            <a:ext cx="818733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09585" y="2757488"/>
            <a:ext cx="1828754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Empathize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585" y="3324324"/>
            <a:ext cx="1828754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Understand where people struggle with waste segregation.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95428" y="2293938"/>
            <a:ext cx="377816" cy="377825"/>
          </a:xfrm>
          <a:prstGeom prst="ellipse">
            <a:avLst/>
          </a:prstGeom>
          <a:solidFill>
            <a:srgbClr val="D84CFF"/>
          </a:solidFill>
          <a:ln w="12700">
            <a:solidFill>
              <a:srgbClr val="351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9762" y="2391073"/>
            <a:ext cx="818733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895428" y="2757488"/>
            <a:ext cx="1828853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95428" y="3324324"/>
            <a:ext cx="1828853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Focus on confusion at the point of disposal.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81371" y="2293938"/>
            <a:ext cx="377816" cy="377825"/>
          </a:xfrm>
          <a:prstGeom prst="ellipse">
            <a:avLst/>
          </a:prstGeom>
          <a:solidFill>
            <a:srgbClr val="D84CFF"/>
          </a:solidFill>
          <a:ln w="12700">
            <a:solidFill>
              <a:srgbClr val="351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65705" y="2391073"/>
            <a:ext cx="818733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181371" y="2757488"/>
            <a:ext cx="1828853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Ideate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81371" y="3324324"/>
            <a:ext cx="1828853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Explore chatbot, classification, image recognition, and RAG approaches.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67314" y="2293938"/>
            <a:ext cx="377816" cy="377825"/>
          </a:xfrm>
          <a:prstGeom prst="ellipse">
            <a:avLst/>
          </a:prstGeom>
          <a:solidFill>
            <a:srgbClr val="D84CFF"/>
          </a:solidFill>
          <a:ln w="12700">
            <a:solidFill>
              <a:srgbClr val="351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1648" y="2391073"/>
            <a:ext cx="818733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67314" y="2757488"/>
            <a:ext cx="1828853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67314" y="3324324"/>
            <a:ext cx="1828853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Build the AI workflow and sample interactions.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753257" y="2293938"/>
            <a:ext cx="377816" cy="377825"/>
          </a:xfrm>
          <a:prstGeom prst="ellipse">
            <a:avLst/>
          </a:prstGeom>
          <a:solidFill>
            <a:srgbClr val="D84CFF"/>
          </a:solidFill>
          <a:ln w="12700">
            <a:solidFill>
              <a:srgbClr val="351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37591" y="2391073"/>
            <a:ext cx="818733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05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753257" y="2757488"/>
            <a:ext cx="1828853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and refine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753257" y="3738761"/>
            <a:ext cx="1828853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 accuracy, clarity, usefulness, and responsible-AI safeguards.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09585" y="5138142"/>
            <a:ext cx="10972526" cy="146050"/>
          </a:xfrm>
          <a:custGeom>
            <a:avLst/>
            <a:gdLst/>
            <a:ahLst/>
            <a:cxnLst/>
            <a:rect l="l" t="t" r="r" b="b"/>
            <a:pathLst>
              <a:path w="10972526" h="146050">
                <a:moveTo>
                  <a:pt x="0" y="55499"/>
                </a:moveTo>
                <a:lnTo>
                  <a:pt x="8997471" y="11684"/>
                </a:lnTo>
                <a:lnTo>
                  <a:pt x="10972526" y="73025"/>
                </a:lnTo>
                <a:lnTo>
                  <a:pt x="8997471" y="134366"/>
                </a:lnTo>
                <a:lnTo>
                  <a:pt x="0" y="90551"/>
                </a:lnTo>
                <a:close/>
              </a:path>
            </a:pathLst>
          </a:custGeom>
          <a:solidFill>
            <a:srgbClr val="581CA0">
              <a:alpha val="9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230582" y="5192117"/>
            <a:ext cx="7351429" cy="38100"/>
          </a:xfrm>
          <a:prstGeom prst="roundRect">
            <a:avLst>
              <a:gd name="adj" fmla="val 49999"/>
            </a:avLst>
          </a:prstGeom>
          <a:solidFill>
            <a:srgbClr val="7852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Trust is part of the product, not a footnote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280021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useful recommendation must also be explainable, cautious, and accountable.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09585" y="1772741"/>
            <a:ext cx="558092" cy="558105"/>
          </a:xfrm>
          <a:prstGeom prst="ellipse">
            <a:avLst/>
          </a:prstGeom>
          <a:noFill/>
          <a:ln w="25399">
            <a:solidFill>
              <a:srgbClr val="35199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05" y="1960066"/>
            <a:ext cx="183451" cy="183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2457847"/>
            <a:ext cx="350511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Fairness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09585" y="3024684"/>
            <a:ext cx="350511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 varied descriptions and avoid biased assumptions.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419489" y="1772741"/>
            <a:ext cx="558092" cy="558105"/>
          </a:xfrm>
          <a:prstGeom prst="ellipse">
            <a:avLst/>
          </a:prstGeom>
          <a:noFill/>
          <a:ln w="25399">
            <a:solidFill>
              <a:srgbClr val="35199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810" y="1960066"/>
            <a:ext cx="183451" cy="18345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19489" y="2457847"/>
            <a:ext cx="3352716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Transparency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419489" y="3024684"/>
            <a:ext cx="335271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Explain the reason behind a recommendation and show uncertainty.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076998" y="1772741"/>
            <a:ext cx="558092" cy="558105"/>
          </a:xfrm>
          <a:prstGeom prst="ellipse">
            <a:avLst/>
          </a:prstGeom>
          <a:noFill/>
          <a:ln w="25399">
            <a:solidFill>
              <a:srgbClr val="35199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318" y="1960066"/>
            <a:ext cx="183451" cy="18345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76998" y="2457847"/>
            <a:ext cx="350511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Ethics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8076998" y="3024684"/>
            <a:ext cx="350511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Avoid harmful, misleading, or discriminatory guidance.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09585" y="4236145"/>
            <a:ext cx="558092" cy="558105"/>
          </a:xfrm>
          <a:prstGeom prst="ellipse">
            <a:avLst/>
          </a:prstGeom>
          <a:noFill/>
          <a:ln w="25399">
            <a:solidFill>
              <a:srgbClr val="35199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05" y="4423470"/>
            <a:ext cx="183451" cy="18345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9585" y="4921250"/>
            <a:ext cx="350511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Privacy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609585" y="5488087"/>
            <a:ext cx="350511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Avoid collecting personal or sensitive information.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419489" y="4236145"/>
            <a:ext cx="558092" cy="558105"/>
          </a:xfrm>
          <a:prstGeom prst="ellipse">
            <a:avLst/>
          </a:prstGeom>
          <a:noFill/>
          <a:ln w="25399">
            <a:solidFill>
              <a:srgbClr val="351999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810" y="4423470"/>
            <a:ext cx="183451" cy="18345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19489" y="4921250"/>
            <a:ext cx="3352716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variation</a:t>
            </a:r>
            <a:endParaRPr lang="en-US" sz="2400" dirty="0"/>
          </a:p>
        </p:txBody>
      </p:sp>
      <p:sp>
        <p:nvSpPr>
          <p:cNvPr id="23" name="Text 16"/>
          <p:cNvSpPr/>
          <p:nvPr/>
        </p:nvSpPr>
        <p:spPr>
          <a:xfrm>
            <a:off x="4419489" y="5488087"/>
            <a:ext cx="335271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Remind users that waste rules differ by location.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8076998" y="4236145"/>
            <a:ext cx="558092" cy="558105"/>
          </a:xfrm>
          <a:prstGeom prst="ellipse">
            <a:avLst/>
          </a:prstGeom>
          <a:noFill/>
          <a:ln w="25399">
            <a:solidFill>
              <a:srgbClr val="351999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4318" y="4423470"/>
            <a:ext cx="183451" cy="18345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076998" y="4921250"/>
            <a:ext cx="350511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 oversight</a:t>
            </a:r>
            <a:endParaRPr lang="en-US" sz="2400" dirty="0"/>
          </a:p>
        </p:txBody>
      </p:sp>
      <p:sp>
        <p:nvSpPr>
          <p:cNvPr id="27" name="Text 19"/>
          <p:cNvSpPr/>
          <p:nvPr/>
        </p:nvSpPr>
        <p:spPr>
          <a:xfrm>
            <a:off x="8076998" y="5488087"/>
            <a:ext cx="350511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Support decisions without replacing official authorities.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77230"/>
            <a:ext cx="10972526" cy="10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800" spc="-9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Impact begins with better decisions, then scales through better systems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2412901"/>
            <a:ext cx="594345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EXPECTED IMPACT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719586"/>
          <a:ext cx="9143771" cy="914400"/>
        </p:xfrm>
        <a:graphic>
          <a:graphicData uri="http://schemas.openxmlformats.org/drawingml/2006/table">
            <a:tbl>
              <a:tblPr/>
              <a:tblGrid>
                <a:gridCol w="1813515"/>
                <a:gridCol w="3520352"/>
              </a:tblGrid>
              <a:tr h="1091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Environmental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8E4F2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Improve segregation awareness, encourage responsible disposal, and support recycling practices.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</a:tr>
              <a:tr h="1091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Social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8E4F2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Make sustainability guidance easier to access for students and communities.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</a:tr>
              <a:tr h="7770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Resource and economic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8E4F2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Support more efficient downstream waste handling.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48244" y="2412901"/>
            <a:ext cx="594345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48244" y="2681486"/>
            <a:ext cx="5333867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the system around verified context.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248244" y="3662759"/>
            <a:ext cx="533386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Image-based recognition, verified local-policy RAG, multilingual support, location-specific guidance, waste analytics, and campus waste-management integration.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57548"/>
            <a:ext cx="10972526" cy="1901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200" spc="-182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AI + Sustainability</a:t>
            </a:r>
            <a:endParaRPr lang="en-US" sz="52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5200" spc="-182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+ Responsible Design</a:t>
            </a:r>
            <a:endParaRPr lang="en-US" sz="52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5200" spc="-182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= Positive Impact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09585" y="2971998"/>
            <a:ext cx="109725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8E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implemented, AI WasteWise could provide quick, understandable support at the moment people decide where an item should go.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766939"/>
          <a:ext cx="9143771" cy="914400"/>
        </p:xfrm>
        <a:graphic>
          <a:graphicData uri="http://schemas.openxmlformats.org/drawingml/2006/table">
            <a:tbl>
              <a:tblPr/>
              <a:tblGrid>
                <a:gridCol w="3072307"/>
                <a:gridCol w="7900218"/>
              </a:tblGrid>
              <a:tr h="487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Students + households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8E4F2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Easier disposal decisions.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Institutions + communities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8E4F2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Stronger waste-awareness programs and practices.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</a:tr>
              <a:tr h="4748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Environment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8E4F2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Support for more responsible waste management.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585" y="5445522"/>
            <a:ext cx="10972526" cy="174625"/>
          </a:xfrm>
          <a:custGeom>
            <a:avLst/>
            <a:gdLst/>
            <a:ahLst/>
            <a:cxnLst/>
            <a:rect l="l" t="t" r="r" b="b"/>
            <a:pathLst>
              <a:path w="10972526" h="174625">
                <a:moveTo>
                  <a:pt x="0" y="66358"/>
                </a:moveTo>
                <a:lnTo>
                  <a:pt x="8997471" y="13970"/>
                </a:lnTo>
                <a:lnTo>
                  <a:pt x="10972526" y="87313"/>
                </a:lnTo>
                <a:lnTo>
                  <a:pt x="8997471" y="160655"/>
                </a:lnTo>
                <a:lnTo>
                  <a:pt x="0" y="108268"/>
                </a:lnTo>
                <a:close/>
              </a:path>
            </a:pathLst>
          </a:custGeom>
          <a:solidFill>
            <a:srgbClr val="581CA0">
              <a:alpha val="9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09585" y="5497909"/>
            <a:ext cx="9600960" cy="69751"/>
          </a:xfrm>
          <a:prstGeom prst="roundRect">
            <a:avLst>
              <a:gd name="adj" fmla="val 49999"/>
            </a:avLst>
          </a:prstGeom>
          <a:solidFill>
            <a:srgbClr val="7852FF"/>
          </a:solidFill>
          <a:ln/>
        </p:spPr>
      </p:sp>
      <p:sp>
        <p:nvSpPr>
          <p:cNvPr id="7" name="Text 4"/>
          <p:cNvSpPr/>
          <p:nvPr/>
        </p:nvSpPr>
        <p:spPr>
          <a:xfrm>
            <a:off x="609585" y="5810647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for Sustainability Virtual Internship · Devarapalli Sravani · Lakireddy Bali Reddy College of Engineering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2026-09-12T15:03:51Z</dcterms:created>
  <dcterms:modified xsi:type="dcterms:W3CDTF">2026-09-12T15:03:51Z</dcterms:modified>
</cp:coreProperties>
</file>